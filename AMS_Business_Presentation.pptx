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73152"/>
            <a:ext cx="1463040" cy="1463040"/>
          </a:xfrm>
          <a:prstGeom prst="arc">
            <a:avLst/>
          </a:prstGeom>
          <a:solidFill>
            <a:srgbClr val="081014">
              <a:alpha val="0"/>
            </a:srgbClr>
          </a:solidFill>
          <a:ln w="15240">
            <a:solidFill>
              <a:srgbClr val="00CEC4">
                <a:alpha val="6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82935" y="5687568"/>
            <a:ext cx="1097280" cy="109728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6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03504"/>
            <a:ext cx="1874520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6656" y="17007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ADARSH SHIPPING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658368" y="2011680"/>
            <a:ext cx="6720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Appraisal Management System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76656" y="2834640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Performance | Salary Management | Appraisal Automation</a:t>
            </a:r>
            <a:endParaRPr lang="en-US" sz="1140" dirty="0"/>
          </a:p>
        </p:txBody>
      </p:sp>
      <p:sp>
        <p:nvSpPr>
          <p:cNvPr id="9" name="Shape 6"/>
          <p:cNvSpPr/>
          <p:nvPr/>
        </p:nvSpPr>
        <p:spPr>
          <a:xfrm>
            <a:off x="676656" y="3703320"/>
            <a:ext cx="5349240" cy="1133856"/>
          </a:xfrm>
          <a:prstGeom prst="roundRect">
            <a:avLst>
              <a:gd name="adj" fmla="val 4839"/>
            </a:avLst>
          </a:prstGeom>
          <a:solidFill>
            <a:srgbClr val="15252B"/>
          </a:solidFill>
          <a:ln w="10160">
            <a:solidFill>
              <a:srgbClr val="234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770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2121408" y="387705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Adarsh Shipping - Management Team</a:t>
            </a:r>
            <a:endParaRPr lang="en-US" sz="770" dirty="0"/>
          </a:p>
        </p:txBody>
      </p:sp>
      <p:sp>
        <p:nvSpPr>
          <p:cNvPr id="12" name="Text 9"/>
          <p:cNvSpPr/>
          <p:nvPr/>
        </p:nvSpPr>
        <p:spPr>
          <a:xfrm>
            <a:off x="914400" y="41056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</a:t>
            </a:r>
            <a:endParaRPr lang="en-US" sz="770" dirty="0"/>
          </a:p>
        </p:txBody>
      </p:sp>
      <p:sp>
        <p:nvSpPr>
          <p:cNvPr id="13" name="Text 10"/>
          <p:cNvSpPr/>
          <p:nvPr/>
        </p:nvSpPr>
        <p:spPr>
          <a:xfrm>
            <a:off x="2121408" y="410565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&amp; HR Team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914400" y="43342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770" dirty="0"/>
          </a:p>
        </p:txBody>
      </p:sp>
      <p:sp>
        <p:nvSpPr>
          <p:cNvPr id="15" name="Text 12"/>
          <p:cNvSpPr/>
          <p:nvPr/>
        </p:nvSpPr>
        <p:spPr>
          <a:xfrm>
            <a:off x="2121408" y="433425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5, 2026</a:t>
            </a:r>
            <a:endParaRPr lang="en-US" sz="770" dirty="0"/>
          </a:p>
        </p:txBody>
      </p:sp>
      <p:sp>
        <p:nvSpPr>
          <p:cNvPr id="16" name="Text 13"/>
          <p:cNvSpPr/>
          <p:nvPr/>
        </p:nvSpPr>
        <p:spPr>
          <a:xfrm>
            <a:off x="914400" y="456285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770" dirty="0"/>
          </a:p>
        </p:txBody>
      </p:sp>
      <p:sp>
        <p:nvSpPr>
          <p:cNvPr id="17" name="Text 14"/>
          <p:cNvSpPr/>
          <p:nvPr/>
        </p:nvSpPr>
        <p:spPr>
          <a:xfrm>
            <a:off x="2121408" y="456285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Release v1.0.1</a:t>
            </a:r>
            <a:endParaRPr lang="en-US" sz="770" dirty="0"/>
          </a:p>
        </p:txBody>
      </p:sp>
      <p:sp>
        <p:nvSpPr>
          <p:cNvPr id="18" name="Shape 15"/>
          <p:cNvSpPr/>
          <p:nvPr/>
        </p:nvSpPr>
        <p:spPr>
          <a:xfrm>
            <a:off x="7607808" y="1225296"/>
            <a:ext cx="1783080" cy="859536"/>
          </a:xfrm>
          <a:prstGeom prst="roundRect">
            <a:avLst>
              <a:gd name="adj" fmla="val 6383"/>
            </a:avLst>
          </a:prstGeom>
          <a:solidFill>
            <a:srgbClr val="15252B"/>
          </a:solidFill>
          <a:ln w="13335">
            <a:solidFill>
              <a:srgbClr val="00CEC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90688" y="13716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7790688" y="1764792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9665208" y="1225296"/>
            <a:ext cx="1783080" cy="859536"/>
          </a:xfrm>
          <a:prstGeom prst="roundRect">
            <a:avLst>
              <a:gd name="adj" fmla="val 6383"/>
            </a:avLst>
          </a:prstGeom>
          <a:solidFill>
            <a:srgbClr val="15252B"/>
          </a:solidFill>
          <a:ln w="13335">
            <a:solidFill>
              <a:srgbClr val="FFAA2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848088" y="13716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848088" y="1764792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stages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7607808" y="2377440"/>
            <a:ext cx="1783080" cy="859536"/>
          </a:xfrm>
          <a:prstGeom prst="roundRect">
            <a:avLst>
              <a:gd name="adj" fmla="val 6383"/>
            </a:avLst>
          </a:prstGeom>
          <a:solidFill>
            <a:srgbClr val="15252B"/>
          </a:solidFill>
          <a:ln w="13335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90688" y="25237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790688" y="2916936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criteria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9665208" y="2377440"/>
            <a:ext cx="1783080" cy="859536"/>
          </a:xfrm>
          <a:prstGeom prst="roundRect">
            <a:avLst>
              <a:gd name="adj" fmla="val 6383"/>
            </a:avLst>
          </a:prstGeom>
          <a:solidFill>
            <a:srgbClr val="15252B"/>
          </a:solidFill>
          <a:ln w="13335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848088" y="25237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9848088" y="2916936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layers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676656" y="57424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Streamlining performance reviews, simplifying compensation, and empowering management decisions.</a:t>
            </a:r>
            <a:endParaRPr lang="en-US" sz="970" dirty="0"/>
          </a:p>
        </p:txBody>
      </p:sp>
      <p:sp>
        <p:nvSpPr>
          <p:cNvPr id="31" name="Text 28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54864"/>
            <a:ext cx="1298448" cy="1298448"/>
          </a:xfrm>
          <a:prstGeom prst="arc">
            <a:avLst/>
          </a:prstGeom>
          <a:solidFill>
            <a:srgbClr val="081014">
              <a:alpha val="0"/>
            </a:srgbClr>
          </a:solidFill>
          <a:ln w="13335">
            <a:solidFill>
              <a:srgbClr val="00CEC4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97296"/>
            <a:ext cx="960120" cy="96012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4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1021263" y="3840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30352" y="530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30352" y="822960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 &amp; Objectives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30352" y="13075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AMS is, why it exists, and the business goals it supports.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1883664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1883664"/>
            <a:ext cx="50292" cy="1234440"/>
          </a:xfrm>
          <a:prstGeom prst="rect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1031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0" y="2093976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system does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914400" y="2505456"/>
            <a:ext cx="2734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Digitizes the full appraisal cycle from initiation and self-assessment through reviewer ratings, management decision, salary revision, meeting records, and closure.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361688" y="1883664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61688" y="1883664"/>
            <a:ext cx="50292" cy="1234440"/>
          </a:xfrm>
          <a:prstGeom prst="rect">
            <a:avLst/>
          </a:prstGeom>
          <a:solidFill>
            <a:srgbClr val="FFAA2D"/>
          </a:solidFill>
          <a:ln w="12700">
            <a:solidFill>
              <a:srgbClr val="FFAA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44568" y="21031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074920" y="2093976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was built</a:t>
            </a:r>
            <a:endParaRPr lang="en-US" sz="1010" dirty="0"/>
          </a:p>
        </p:txBody>
      </p:sp>
      <p:sp>
        <p:nvSpPr>
          <p:cNvPr id="19" name="Text 16"/>
          <p:cNvSpPr/>
          <p:nvPr/>
        </p:nvSpPr>
        <p:spPr>
          <a:xfrm>
            <a:off x="4617720" y="2505456"/>
            <a:ext cx="2734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Replaces paper forms, spreadsheets, and email chasing with a structured, transparent, automated workflow that keeps every review traceable.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065008" y="1883664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65008" y="1883664"/>
            <a:ext cx="50292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47888" y="21031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778240" y="2093976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Problems solved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8321040" y="2505456"/>
            <a:ext cx="2734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tracking, consistent rating methods, automated hike calculation, audit-ready decisions, deadline reminders, and management visibility.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58368" y="3675888"/>
            <a:ext cx="10881360" cy="1700784"/>
          </a:xfrm>
          <a:prstGeom prst="roundRect">
            <a:avLst>
              <a:gd name="adj" fmla="val 3226"/>
            </a:avLst>
          </a:prstGeom>
          <a:solidFill>
            <a:srgbClr val="15252B"/>
          </a:solidFill>
          <a:ln w="10160">
            <a:solidFill>
              <a:srgbClr val="234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38770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objectives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32688" y="435711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7280" y="431596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Streamline every appraisal through a defined digital workflow.</a:t>
            </a:r>
            <a:endParaRPr lang="en-US" sz="890" dirty="0"/>
          </a:p>
        </p:txBody>
      </p:sp>
      <p:sp>
        <p:nvSpPr>
          <p:cNvPr id="29" name="Shape 26"/>
          <p:cNvSpPr/>
          <p:nvPr/>
        </p:nvSpPr>
        <p:spPr>
          <a:xfrm>
            <a:off x="932688" y="467715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97280" y="463600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 fair scoring through three independent reviewers.</a:t>
            </a:r>
            <a:endParaRPr lang="en-US" sz="890" dirty="0"/>
          </a:p>
        </p:txBody>
      </p:sp>
      <p:sp>
        <p:nvSpPr>
          <p:cNvPr id="31" name="Shape 28"/>
          <p:cNvSpPr/>
          <p:nvPr/>
        </p:nvSpPr>
        <p:spPr>
          <a:xfrm>
            <a:off x="932688" y="499719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97280" y="4956048"/>
            <a:ext cx="4663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deadlines, reminders, overdue flags, and arrear calculation.</a:t>
            </a:r>
            <a:endParaRPr lang="en-US" sz="890" dirty="0"/>
          </a:p>
        </p:txBody>
      </p:sp>
      <p:sp>
        <p:nvSpPr>
          <p:cNvPr id="33" name="Shape 30"/>
          <p:cNvSpPr/>
          <p:nvPr/>
        </p:nvSpPr>
        <p:spPr>
          <a:xfrm>
            <a:off x="6263640" y="435711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28232" y="4315968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data with role-based access and full audit history.</a:t>
            </a:r>
            <a:endParaRPr lang="en-US" sz="890" dirty="0"/>
          </a:p>
        </p:txBody>
      </p:sp>
      <p:sp>
        <p:nvSpPr>
          <p:cNvPr id="35" name="Shape 32"/>
          <p:cNvSpPr/>
          <p:nvPr/>
        </p:nvSpPr>
        <p:spPr>
          <a:xfrm>
            <a:off x="6263640" y="467715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28232" y="4636008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evidence-based salary and performance decisions.</a:t>
            </a:r>
            <a:endParaRPr lang="en-US" sz="890" dirty="0"/>
          </a:p>
        </p:txBody>
      </p:sp>
      <p:sp>
        <p:nvSpPr>
          <p:cNvPr id="37" name="Shape 34"/>
          <p:cNvSpPr/>
          <p:nvPr/>
        </p:nvSpPr>
        <p:spPr>
          <a:xfrm>
            <a:off x="6263640" y="499719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28232" y="4956048"/>
            <a:ext cx="4526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 all cycles, ratings, salary revisions, MOMs, and KPI records.</a:t>
            </a:r>
            <a:endParaRPr lang="en-US" sz="8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54864"/>
            <a:ext cx="1298448" cy="1298448"/>
          </a:xfrm>
          <a:prstGeom prst="arc">
            <a:avLst/>
          </a:prstGeom>
          <a:solidFill>
            <a:srgbClr val="081014">
              <a:alpha val="0"/>
            </a:srgbClr>
          </a:solidFill>
          <a:ln w="13335">
            <a:solidFill>
              <a:srgbClr val="00CEC4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97296"/>
            <a:ext cx="960120" cy="96012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4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1021263" y="3840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30352" y="530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30352" y="822960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Roles &amp; Permissions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30352" y="13075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roles with strict access boundaries and clear responsibilities.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1828800"/>
            <a:ext cx="2450592" cy="1243584"/>
          </a:xfrm>
          <a:prstGeom prst="roundRect">
            <a:avLst>
              <a:gd name="adj" fmla="val 4412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1828800"/>
            <a:ext cx="50292" cy="1243584"/>
          </a:xfrm>
          <a:prstGeom prst="rect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04825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0" y="203911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914400" y="24505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system control, employees, cycles, salary slabs, extensions, monitoring, and data tools.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3447288" y="1828800"/>
            <a:ext cx="2450592" cy="1243584"/>
          </a:xfrm>
          <a:prstGeom prst="roundRect">
            <a:avLst>
              <a:gd name="adj" fmla="val 4412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47288" y="1828800"/>
            <a:ext cx="50292" cy="1243584"/>
          </a:xfrm>
          <a:prstGeom prst="rect">
            <a:avLst/>
          </a:prstGeom>
          <a:solidFill>
            <a:srgbClr val="FFAA2D"/>
          </a:solidFill>
          <a:ln w="12700">
            <a:solidFill>
              <a:srgbClr val="FFAA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204825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160520" y="203911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</a:t>
            </a:r>
            <a:endParaRPr lang="en-US" sz="1010" dirty="0"/>
          </a:p>
        </p:txBody>
      </p:sp>
      <p:sp>
        <p:nvSpPr>
          <p:cNvPr id="19" name="Text 16"/>
          <p:cNvSpPr/>
          <p:nvPr/>
        </p:nvSpPr>
        <p:spPr>
          <a:xfrm>
            <a:off x="3703320" y="24505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aggregate ratings, decides salary hikes, approves arrears, and monitors performance.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6236208" y="1828800"/>
            <a:ext cx="2450592" cy="1243584"/>
          </a:xfrm>
          <a:prstGeom prst="roundRect">
            <a:avLst>
              <a:gd name="adj" fmla="val 4412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36208" y="1828800"/>
            <a:ext cx="50292" cy="12435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19088" y="204825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49440" y="203911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6492240" y="24505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role, availability confirmation, MOM writing, passkey resets, and notifications.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9025128" y="1828800"/>
            <a:ext cx="2450592" cy="1243584"/>
          </a:xfrm>
          <a:prstGeom prst="roundRect">
            <a:avLst>
              <a:gd name="adj" fmla="val 4412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025128" y="1828800"/>
            <a:ext cx="50292" cy="12435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08008" y="204825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738360" y="203911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Lead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9281160" y="24505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Rates direct reports, confirms availability, views team KPI data, and votes on meeting dates.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658368" y="3520440"/>
            <a:ext cx="2450592" cy="1243584"/>
          </a:xfrm>
          <a:prstGeom prst="roundRect">
            <a:avLst>
              <a:gd name="adj" fmla="val 4412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58368" y="3520440"/>
            <a:ext cx="50292" cy="12435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1248" y="37398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371600" y="373075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010" dirty="0"/>
          </a:p>
        </p:txBody>
      </p:sp>
      <p:sp>
        <p:nvSpPr>
          <p:cNvPr id="34" name="Text 31"/>
          <p:cNvSpPr/>
          <p:nvPr/>
        </p:nvSpPr>
        <p:spPr>
          <a:xfrm>
            <a:off x="914400" y="414223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reviewer for assigned employees with rating and date-voting responsibilities.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3447288" y="3520440"/>
            <a:ext cx="2450592" cy="1243584"/>
          </a:xfrm>
          <a:prstGeom prst="roundRect">
            <a:avLst>
              <a:gd name="adj" fmla="val 4412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447288" y="3520440"/>
            <a:ext cx="50292" cy="1243584"/>
          </a:xfrm>
          <a:prstGeom prst="rect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30168" y="37398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160520" y="373075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1010" dirty="0"/>
          </a:p>
        </p:txBody>
      </p:sp>
      <p:sp>
        <p:nvSpPr>
          <p:cNvPr id="39" name="Text 36"/>
          <p:cNvSpPr/>
          <p:nvPr/>
        </p:nvSpPr>
        <p:spPr>
          <a:xfrm>
            <a:off x="3703320" y="414223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Self-assessment, cycle status, KPI records, notifications, and salary revision history.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6236208" y="3520440"/>
            <a:ext cx="2788920" cy="1243584"/>
          </a:xfrm>
          <a:prstGeom prst="roundRect">
            <a:avLst>
              <a:gd name="adj" fmla="val 4412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236208" y="3520440"/>
            <a:ext cx="50292" cy="1243584"/>
          </a:xfrm>
          <a:prstGeom prst="rect">
            <a:avLst/>
          </a:prstGeom>
          <a:solidFill>
            <a:srgbClr val="FFAA2D"/>
          </a:solidFill>
          <a:ln w="12700">
            <a:solidFill>
              <a:srgbClr val="FFAA2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19088" y="3739896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6949440" y="373075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/ Director</a:t>
            </a:r>
            <a:endParaRPr lang="en-US" sz="1010" dirty="0"/>
          </a:p>
        </p:txBody>
      </p:sp>
      <p:sp>
        <p:nvSpPr>
          <p:cNvPr id="44" name="Text 41"/>
          <p:cNvSpPr/>
          <p:nvPr/>
        </p:nvSpPr>
        <p:spPr>
          <a:xfrm>
            <a:off x="6492240" y="4142232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oversight across employee records and appraisal information.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658368" y="5449824"/>
            <a:ext cx="10881360" cy="438912"/>
          </a:xfrm>
          <a:prstGeom prst="roundRect">
            <a:avLst>
              <a:gd name="adj" fmla="val 12500"/>
            </a:avLst>
          </a:prstGeom>
          <a:solidFill>
            <a:srgbClr val="15252B"/>
          </a:solidFill>
          <a:ln w="10160">
            <a:solidFill>
              <a:srgbClr val="23434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32688" y="5577840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hold dual roles, such as HR plus Employee, so one person can submit their own appraisal and review assigned employees.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54864"/>
            <a:ext cx="1298448" cy="1298448"/>
          </a:xfrm>
          <a:prstGeom prst="arc">
            <a:avLst/>
          </a:prstGeom>
          <a:solidFill>
            <a:srgbClr val="081014">
              <a:alpha val="0"/>
            </a:srgbClr>
          </a:solidFill>
          <a:ln w="13335">
            <a:solidFill>
              <a:srgbClr val="00CEC4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97296"/>
            <a:ext cx="960120" cy="96012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4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1021263" y="3840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30352" y="530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30352" y="822960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Features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30352" y="13075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appraisal process and supporting capabilities combined into one readable view.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1810512"/>
            <a:ext cx="2450592" cy="1389888"/>
          </a:xfrm>
          <a:prstGeom prst="roundRect">
            <a:avLst>
              <a:gd name="adj" fmla="val 3947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1810512"/>
            <a:ext cx="50292" cy="1389888"/>
          </a:xfrm>
          <a:prstGeom prst="rect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0299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0" y="20208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creation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914400" y="2432304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creates interim or annual cycles and assigns HR, Team Lead, and Manager reviewers.</a:t>
            </a:r>
            <a:endParaRPr lang="en-US" sz="765" dirty="0"/>
          </a:p>
        </p:txBody>
      </p:sp>
      <p:sp>
        <p:nvSpPr>
          <p:cNvPr id="15" name="Shape 12"/>
          <p:cNvSpPr/>
          <p:nvPr/>
        </p:nvSpPr>
        <p:spPr>
          <a:xfrm>
            <a:off x="3447288" y="1810512"/>
            <a:ext cx="2450592" cy="1389888"/>
          </a:xfrm>
          <a:prstGeom prst="roundRect">
            <a:avLst>
              <a:gd name="adj" fmla="val 3947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47288" y="1810512"/>
            <a:ext cx="50292" cy="1389888"/>
          </a:xfrm>
          <a:prstGeom prst="rect">
            <a:avLst/>
          </a:prstGeom>
          <a:solidFill>
            <a:srgbClr val="FFAA2D"/>
          </a:solidFill>
          <a:ln w="12700">
            <a:solidFill>
              <a:srgbClr val="FFAA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20299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160520" y="20208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Self-assessment</a:t>
            </a:r>
            <a:endParaRPr lang="en-US" sz="1010" dirty="0"/>
          </a:p>
        </p:txBody>
      </p:sp>
      <p:sp>
        <p:nvSpPr>
          <p:cNvPr id="19" name="Text 16"/>
          <p:cNvSpPr/>
          <p:nvPr/>
        </p:nvSpPr>
        <p:spPr>
          <a:xfrm>
            <a:off x="3703320" y="2432304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completes a 9-category self-assessment after reviewer availability is confirmed.</a:t>
            </a:r>
            <a:endParaRPr lang="en-US" sz="765" dirty="0"/>
          </a:p>
        </p:txBody>
      </p:sp>
      <p:sp>
        <p:nvSpPr>
          <p:cNvPr id="20" name="Shape 17"/>
          <p:cNvSpPr/>
          <p:nvPr/>
        </p:nvSpPr>
        <p:spPr>
          <a:xfrm>
            <a:off x="6236208" y="1810512"/>
            <a:ext cx="2450592" cy="1389888"/>
          </a:xfrm>
          <a:prstGeom prst="roundRect">
            <a:avLst>
              <a:gd name="adj" fmla="val 3947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36208" y="1810512"/>
            <a:ext cx="50292" cy="1389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19088" y="20299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49440" y="20208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Multi-reviewer rating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6492240" y="2432304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reviewers score independently on 0-10 criteria before scores are revealed.</a:t>
            </a:r>
            <a:endParaRPr lang="en-US" sz="765" dirty="0"/>
          </a:p>
        </p:txBody>
      </p:sp>
      <p:sp>
        <p:nvSpPr>
          <p:cNvPr id="25" name="Shape 22"/>
          <p:cNvSpPr/>
          <p:nvPr/>
        </p:nvSpPr>
        <p:spPr>
          <a:xfrm>
            <a:off x="9025128" y="1810512"/>
            <a:ext cx="2450592" cy="1389888"/>
          </a:xfrm>
          <a:prstGeom prst="roundRect">
            <a:avLst>
              <a:gd name="adj" fmla="val 3947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025128" y="1810512"/>
            <a:ext cx="50292" cy="13898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08008" y="20299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738360" y="20208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decision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9281160" y="2432304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selects the increment slab and approves the final salary hike.</a:t>
            </a:r>
            <a:endParaRPr lang="en-US" sz="765" dirty="0"/>
          </a:p>
        </p:txBody>
      </p:sp>
      <p:sp>
        <p:nvSpPr>
          <p:cNvPr id="30" name="Shape 27"/>
          <p:cNvSpPr/>
          <p:nvPr/>
        </p:nvSpPr>
        <p:spPr>
          <a:xfrm>
            <a:off x="658368" y="3639312"/>
            <a:ext cx="2450592" cy="1389888"/>
          </a:xfrm>
          <a:prstGeom prst="roundRect">
            <a:avLst>
              <a:gd name="adj" fmla="val 3947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58368" y="3639312"/>
            <a:ext cx="50292" cy="1389888"/>
          </a:xfrm>
          <a:prstGeom prst="rect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1248" y="38587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371600" y="3849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tracking</a:t>
            </a:r>
            <a:endParaRPr lang="en-US" sz="1010" dirty="0"/>
          </a:p>
        </p:txBody>
      </p:sp>
      <p:sp>
        <p:nvSpPr>
          <p:cNvPr id="34" name="Text 31"/>
          <p:cNvSpPr/>
          <p:nvPr/>
        </p:nvSpPr>
        <p:spPr>
          <a:xfrm>
            <a:off x="914400" y="4261104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KPI history connects day-to-day performance with appraisal decisions.</a:t>
            </a:r>
            <a:endParaRPr lang="en-US" sz="765" dirty="0"/>
          </a:p>
        </p:txBody>
      </p:sp>
      <p:sp>
        <p:nvSpPr>
          <p:cNvPr id="35" name="Shape 32"/>
          <p:cNvSpPr/>
          <p:nvPr/>
        </p:nvSpPr>
        <p:spPr>
          <a:xfrm>
            <a:off x="3447288" y="3639312"/>
            <a:ext cx="2450592" cy="1389888"/>
          </a:xfrm>
          <a:prstGeom prst="roundRect">
            <a:avLst>
              <a:gd name="adj" fmla="val 3947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3447288" y="3639312"/>
            <a:ext cx="50292" cy="1389888"/>
          </a:xfrm>
          <a:prstGeom prst="rect">
            <a:avLst/>
          </a:prstGeom>
          <a:solidFill>
            <a:srgbClr val="FFAA2D"/>
          </a:solidFill>
          <a:ln w="12700">
            <a:solidFill>
              <a:srgbClr val="FFAA2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30168" y="38587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160520" y="3849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Minutes of Meeting</a:t>
            </a:r>
            <a:endParaRPr lang="en-US" sz="1010" dirty="0"/>
          </a:p>
        </p:txBody>
      </p:sp>
      <p:sp>
        <p:nvSpPr>
          <p:cNvPr id="39" name="Text 36"/>
          <p:cNvSpPr/>
          <p:nvPr/>
        </p:nvSpPr>
        <p:spPr>
          <a:xfrm>
            <a:off x="3703320" y="4261104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HR, Admin, and Management record separate meeting notes against each cycle.</a:t>
            </a:r>
            <a:endParaRPr lang="en-US" sz="765" dirty="0"/>
          </a:p>
        </p:txBody>
      </p:sp>
      <p:sp>
        <p:nvSpPr>
          <p:cNvPr id="40" name="Shape 37"/>
          <p:cNvSpPr/>
          <p:nvPr/>
        </p:nvSpPr>
        <p:spPr>
          <a:xfrm>
            <a:off x="6236208" y="3639312"/>
            <a:ext cx="2450592" cy="1389888"/>
          </a:xfrm>
          <a:prstGeom prst="roundRect">
            <a:avLst>
              <a:gd name="adj" fmla="val 3947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236208" y="3639312"/>
            <a:ext cx="50292" cy="13898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19088" y="38587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6949440" y="3849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Arrear management</a:t>
            </a:r>
            <a:endParaRPr lang="en-US" sz="1010" dirty="0"/>
          </a:p>
        </p:txBody>
      </p:sp>
      <p:sp>
        <p:nvSpPr>
          <p:cNvPr id="44" name="Text 41"/>
          <p:cNvSpPr/>
          <p:nvPr/>
        </p:nvSpPr>
        <p:spPr>
          <a:xfrm>
            <a:off x="6492240" y="4261104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meetings trigger automatic arrear calculation for management approval.</a:t>
            </a:r>
            <a:endParaRPr lang="en-US" sz="765" dirty="0"/>
          </a:p>
        </p:txBody>
      </p:sp>
      <p:sp>
        <p:nvSpPr>
          <p:cNvPr id="45" name="Shape 42"/>
          <p:cNvSpPr/>
          <p:nvPr/>
        </p:nvSpPr>
        <p:spPr>
          <a:xfrm>
            <a:off x="9025128" y="3639312"/>
            <a:ext cx="2450592" cy="1389888"/>
          </a:xfrm>
          <a:prstGeom prst="roundRect">
            <a:avLst>
              <a:gd name="adj" fmla="val 3947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025128" y="3639312"/>
            <a:ext cx="50292" cy="13898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208008" y="38587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9738360" y="3849624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tickets</a:t>
            </a:r>
            <a:endParaRPr lang="en-US" sz="1010" dirty="0"/>
          </a:p>
        </p:txBody>
      </p:sp>
      <p:sp>
        <p:nvSpPr>
          <p:cNvPr id="49" name="Text 46"/>
          <p:cNvSpPr/>
          <p:nvPr/>
        </p:nvSpPr>
        <p:spPr>
          <a:xfrm>
            <a:off x="9281160" y="4261104"/>
            <a:ext cx="1938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users can raise tracked issues with priority, assignment, comments, and resolution history.</a:t>
            </a:r>
            <a:endParaRPr lang="en-US" sz="76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54864"/>
            <a:ext cx="1298448" cy="1298448"/>
          </a:xfrm>
          <a:prstGeom prst="arc">
            <a:avLst/>
          </a:prstGeom>
          <a:solidFill>
            <a:srgbClr val="081014">
              <a:alpha val="0"/>
            </a:srgbClr>
          </a:solidFill>
          <a:ln w="13335">
            <a:solidFill>
              <a:srgbClr val="00CEC4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97296"/>
            <a:ext cx="960120" cy="96012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4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1021263" y="3840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30352" y="530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30352" y="822960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Appraisal Workflow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30352" y="13075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10-stage lifecycle from cycle creation to permanent archive.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76656" y="184708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00CEC4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1248" y="20025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298448" y="202996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Created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77824" y="24231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assigns reviewers</a:t>
            </a:r>
            <a:endParaRPr lang="en-US" sz="770" dirty="0"/>
          </a:p>
        </p:txBody>
      </p:sp>
      <p:sp>
        <p:nvSpPr>
          <p:cNvPr id="14" name="Shape 11"/>
          <p:cNvSpPr/>
          <p:nvPr/>
        </p:nvSpPr>
        <p:spPr>
          <a:xfrm>
            <a:off x="2596896" y="2404872"/>
            <a:ext cx="310896" cy="0"/>
          </a:xfrm>
          <a:prstGeom prst="line">
            <a:avLst/>
          </a:prstGeom>
          <a:noFill/>
          <a:ln w="12700">
            <a:solidFill>
              <a:srgbClr val="6F8A9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944368" y="184708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FFAA2D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108960" y="20025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66160" y="202996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Reviewers Confirm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3145536" y="24231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HR, TL, Manager confirm</a:t>
            </a:r>
            <a:endParaRPr lang="en-US" sz="770" dirty="0"/>
          </a:p>
        </p:txBody>
      </p:sp>
      <p:sp>
        <p:nvSpPr>
          <p:cNvPr id="19" name="Shape 16"/>
          <p:cNvSpPr/>
          <p:nvPr/>
        </p:nvSpPr>
        <p:spPr>
          <a:xfrm>
            <a:off x="4864608" y="2404872"/>
            <a:ext cx="310896" cy="0"/>
          </a:xfrm>
          <a:prstGeom prst="line">
            <a:avLst/>
          </a:prstGeom>
          <a:noFill/>
          <a:ln w="12700">
            <a:solidFill>
              <a:srgbClr val="6F8A9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212080" y="184708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3B82F6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376672" y="20025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833872" y="202996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Self-Assessment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5413248" y="24231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submits within 3 days</a:t>
            </a:r>
            <a:endParaRPr lang="en-US" sz="770" dirty="0"/>
          </a:p>
        </p:txBody>
      </p:sp>
      <p:sp>
        <p:nvSpPr>
          <p:cNvPr id="24" name="Shape 21"/>
          <p:cNvSpPr/>
          <p:nvPr/>
        </p:nvSpPr>
        <p:spPr>
          <a:xfrm>
            <a:off x="7132320" y="2404872"/>
            <a:ext cx="310896" cy="0"/>
          </a:xfrm>
          <a:prstGeom prst="line">
            <a:avLst/>
          </a:prstGeom>
          <a:noFill/>
          <a:ln w="12700">
            <a:solidFill>
              <a:srgbClr val="6F8A9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479792" y="184708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22C55E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644384" y="20025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101584" y="202996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Ratings</a:t>
            </a:r>
            <a:endParaRPr lang="en-US" sz="920" dirty="0"/>
          </a:p>
        </p:txBody>
      </p:sp>
      <p:sp>
        <p:nvSpPr>
          <p:cNvPr id="28" name="Text 25"/>
          <p:cNvSpPr/>
          <p:nvPr/>
        </p:nvSpPr>
        <p:spPr>
          <a:xfrm>
            <a:off x="7680960" y="24231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reviewers rate 9 criteria</a:t>
            </a:r>
            <a:endParaRPr lang="en-US" sz="770" dirty="0"/>
          </a:p>
        </p:txBody>
      </p:sp>
      <p:sp>
        <p:nvSpPr>
          <p:cNvPr id="29" name="Shape 26"/>
          <p:cNvSpPr/>
          <p:nvPr/>
        </p:nvSpPr>
        <p:spPr>
          <a:xfrm>
            <a:off x="9400032" y="2404872"/>
            <a:ext cx="310896" cy="0"/>
          </a:xfrm>
          <a:prstGeom prst="line">
            <a:avLst/>
          </a:prstGeom>
          <a:noFill/>
          <a:ln w="12700">
            <a:solidFill>
              <a:srgbClr val="6F8A9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747504" y="184708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8B5CF6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912096" y="20025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369296" y="202996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Review</a:t>
            </a:r>
            <a:endParaRPr lang="en-US" sz="920" dirty="0"/>
          </a:p>
        </p:txBody>
      </p:sp>
      <p:sp>
        <p:nvSpPr>
          <p:cNvPr id="33" name="Text 30"/>
          <p:cNvSpPr/>
          <p:nvPr/>
        </p:nvSpPr>
        <p:spPr>
          <a:xfrm>
            <a:off x="9948672" y="242316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Disagreements revised</a:t>
            </a:r>
            <a:endParaRPr lang="en-US" sz="770" dirty="0"/>
          </a:p>
        </p:txBody>
      </p:sp>
      <p:sp>
        <p:nvSpPr>
          <p:cNvPr id="34" name="Shape 31"/>
          <p:cNvSpPr/>
          <p:nvPr/>
        </p:nvSpPr>
        <p:spPr>
          <a:xfrm>
            <a:off x="676656" y="349300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00CEC4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41248" y="36484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298448" y="367588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Mgmt Review</a:t>
            </a:r>
            <a:endParaRPr lang="en-US" sz="920" dirty="0"/>
          </a:p>
        </p:txBody>
      </p:sp>
      <p:sp>
        <p:nvSpPr>
          <p:cNvPr id="37" name="Text 34"/>
          <p:cNvSpPr/>
          <p:nvPr/>
        </p:nvSpPr>
        <p:spPr>
          <a:xfrm>
            <a:off x="877824" y="4069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reviewed</a:t>
            </a:r>
            <a:endParaRPr lang="en-US" sz="770" dirty="0"/>
          </a:p>
        </p:txBody>
      </p:sp>
      <p:sp>
        <p:nvSpPr>
          <p:cNvPr id="38" name="Shape 35"/>
          <p:cNvSpPr/>
          <p:nvPr/>
        </p:nvSpPr>
        <p:spPr>
          <a:xfrm>
            <a:off x="2596896" y="4050792"/>
            <a:ext cx="310896" cy="0"/>
          </a:xfrm>
          <a:prstGeom prst="line">
            <a:avLst/>
          </a:prstGeom>
          <a:noFill/>
          <a:ln w="12700">
            <a:solidFill>
              <a:srgbClr val="6F8A9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2944368" y="349300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FFAA2D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3108960" y="36484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3566160" y="367588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Made</a:t>
            </a:r>
            <a:endParaRPr lang="en-US" sz="920" dirty="0"/>
          </a:p>
        </p:txBody>
      </p:sp>
      <p:sp>
        <p:nvSpPr>
          <p:cNvPr id="42" name="Text 39"/>
          <p:cNvSpPr/>
          <p:nvPr/>
        </p:nvSpPr>
        <p:spPr>
          <a:xfrm>
            <a:off x="3145536" y="4069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Rating, slab, hike set</a:t>
            </a:r>
            <a:endParaRPr lang="en-US" sz="770" dirty="0"/>
          </a:p>
        </p:txBody>
      </p:sp>
      <p:sp>
        <p:nvSpPr>
          <p:cNvPr id="43" name="Shape 40"/>
          <p:cNvSpPr/>
          <p:nvPr/>
        </p:nvSpPr>
        <p:spPr>
          <a:xfrm>
            <a:off x="4864608" y="4050792"/>
            <a:ext cx="310896" cy="0"/>
          </a:xfrm>
          <a:prstGeom prst="line">
            <a:avLst/>
          </a:prstGeom>
          <a:noFill/>
          <a:ln w="12700">
            <a:solidFill>
              <a:srgbClr val="6F8A9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212080" y="349300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3B82F6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376672" y="36484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5833872" y="367588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Scheduled</a:t>
            </a:r>
            <a:endParaRPr lang="en-US" sz="920" dirty="0"/>
          </a:p>
        </p:txBody>
      </p:sp>
      <p:sp>
        <p:nvSpPr>
          <p:cNvPr id="47" name="Text 44"/>
          <p:cNvSpPr/>
          <p:nvPr/>
        </p:nvSpPr>
        <p:spPr>
          <a:xfrm>
            <a:off x="5413248" y="4069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voted and held</a:t>
            </a:r>
            <a:endParaRPr lang="en-US" sz="770" dirty="0"/>
          </a:p>
        </p:txBody>
      </p:sp>
      <p:sp>
        <p:nvSpPr>
          <p:cNvPr id="48" name="Shape 45"/>
          <p:cNvSpPr/>
          <p:nvPr/>
        </p:nvSpPr>
        <p:spPr>
          <a:xfrm>
            <a:off x="7132320" y="4050792"/>
            <a:ext cx="310896" cy="0"/>
          </a:xfrm>
          <a:prstGeom prst="line">
            <a:avLst/>
          </a:prstGeom>
          <a:noFill/>
          <a:ln w="12700">
            <a:solidFill>
              <a:srgbClr val="6F8A9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7479792" y="349300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22C55E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7644384" y="36484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8101584" y="367588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Created</a:t>
            </a:r>
            <a:endParaRPr lang="en-US" sz="920" dirty="0"/>
          </a:p>
        </p:txBody>
      </p:sp>
      <p:sp>
        <p:nvSpPr>
          <p:cNvPr id="52" name="Text 49"/>
          <p:cNvSpPr/>
          <p:nvPr/>
        </p:nvSpPr>
        <p:spPr>
          <a:xfrm>
            <a:off x="7680960" y="4069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 documented</a:t>
            </a:r>
            <a:endParaRPr lang="en-US" sz="770" dirty="0"/>
          </a:p>
        </p:txBody>
      </p:sp>
      <p:sp>
        <p:nvSpPr>
          <p:cNvPr id="53" name="Shape 50"/>
          <p:cNvSpPr/>
          <p:nvPr/>
        </p:nvSpPr>
        <p:spPr>
          <a:xfrm>
            <a:off x="9400032" y="4050792"/>
            <a:ext cx="310896" cy="0"/>
          </a:xfrm>
          <a:prstGeom prst="line">
            <a:avLst/>
          </a:prstGeom>
          <a:noFill/>
          <a:ln w="12700">
            <a:solidFill>
              <a:srgbClr val="6F8A92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9747504" y="3493008"/>
            <a:ext cx="1901952" cy="1115568"/>
          </a:xfrm>
          <a:prstGeom prst="roundRect">
            <a:avLst>
              <a:gd name="adj" fmla="val 4918"/>
            </a:avLst>
          </a:prstGeom>
          <a:solidFill>
            <a:srgbClr val="101B20"/>
          </a:solidFill>
          <a:ln w="10160">
            <a:solidFill>
              <a:srgbClr val="8B5CF6">
                <a:alpha val="8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9912096" y="36484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10369296" y="367588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Closed</a:t>
            </a:r>
            <a:endParaRPr lang="en-US" sz="920" dirty="0"/>
          </a:p>
        </p:txBody>
      </p:sp>
      <p:sp>
        <p:nvSpPr>
          <p:cNvPr id="57" name="Text 54"/>
          <p:cNvSpPr/>
          <p:nvPr/>
        </p:nvSpPr>
        <p:spPr>
          <a:xfrm>
            <a:off x="9948672" y="4069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archived</a:t>
            </a:r>
            <a:endParaRPr lang="en-US" sz="770" dirty="0"/>
          </a:p>
        </p:txBody>
      </p:sp>
      <p:sp>
        <p:nvSpPr>
          <p:cNvPr id="58" name="Shape 55"/>
          <p:cNvSpPr/>
          <p:nvPr/>
        </p:nvSpPr>
        <p:spPr>
          <a:xfrm>
            <a:off x="877824" y="5413248"/>
            <a:ext cx="10424160" cy="420624"/>
          </a:xfrm>
          <a:prstGeom prst="roundRect">
            <a:avLst>
              <a:gd name="adj" fmla="val 13043"/>
            </a:avLst>
          </a:prstGeom>
          <a:solidFill>
            <a:srgbClr val="15252B"/>
          </a:solidFill>
          <a:ln w="10160">
            <a:solidFill>
              <a:srgbClr val="23434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97280" y="554126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Statuses: PENDING -&gt; SELF SUBMITTED -&gt; RATING IN PROGRESS -&gt; RATINGS COMPLETE -&gt; MANAGEMENT REVIEW -&gt; DECIDED -&gt; CLOSED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54864"/>
            <a:ext cx="1298448" cy="1298448"/>
          </a:xfrm>
          <a:prstGeom prst="arc">
            <a:avLst/>
          </a:prstGeom>
          <a:solidFill>
            <a:srgbClr val="081014">
              <a:alpha val="0"/>
            </a:srgbClr>
          </a:solidFill>
          <a:ln w="13335">
            <a:solidFill>
              <a:srgbClr val="00CEC4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97296"/>
            <a:ext cx="960120" cy="96012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4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1021263" y="3840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30352" y="530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30352" y="822960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Role-Based Dashboards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30352" y="13075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user lands on a dashboard focused on the work they actually need to perform.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58368" y="1828800"/>
            <a:ext cx="2423160" cy="3611880"/>
          </a:xfrm>
          <a:prstGeom prst="roundRect">
            <a:avLst>
              <a:gd name="adj" fmla="val 2264"/>
            </a:avLst>
          </a:prstGeom>
          <a:solidFill>
            <a:srgbClr val="101B20"/>
          </a:solidFill>
          <a:ln w="10160">
            <a:solidFill>
              <a:srgbClr val="00CEC4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14400" y="20665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Dashboard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950976" y="265633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5568" y="261518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 this month</a:t>
            </a:r>
            <a:endParaRPr lang="en-US" sz="810" dirty="0"/>
          </a:p>
        </p:txBody>
      </p:sp>
      <p:sp>
        <p:nvSpPr>
          <p:cNvPr id="14" name="Shape 11"/>
          <p:cNvSpPr/>
          <p:nvPr/>
        </p:nvSpPr>
        <p:spPr>
          <a:xfrm>
            <a:off x="950976" y="3003804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cycles</a:t>
            </a:r>
            <a:endParaRPr lang="en-US" sz="810" dirty="0"/>
          </a:p>
        </p:txBody>
      </p:sp>
      <p:sp>
        <p:nvSpPr>
          <p:cNvPr id="16" name="Shape 13"/>
          <p:cNvSpPr/>
          <p:nvPr/>
        </p:nvSpPr>
        <p:spPr>
          <a:xfrm>
            <a:off x="950976" y="335127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33101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confirmations</a:t>
            </a:r>
            <a:endParaRPr lang="en-US" sz="810" dirty="0"/>
          </a:p>
        </p:txBody>
      </p:sp>
      <p:sp>
        <p:nvSpPr>
          <p:cNvPr id="18" name="Shape 15"/>
          <p:cNvSpPr/>
          <p:nvPr/>
        </p:nvSpPr>
        <p:spPr>
          <a:xfrm>
            <a:off x="950976" y="3698748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365760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 requests</a:t>
            </a:r>
            <a:endParaRPr lang="en-US" sz="810" dirty="0"/>
          </a:p>
        </p:txBody>
      </p:sp>
      <p:sp>
        <p:nvSpPr>
          <p:cNvPr id="20" name="Shape 17"/>
          <p:cNvSpPr/>
          <p:nvPr/>
        </p:nvSpPr>
        <p:spPr>
          <a:xfrm>
            <a:off x="950976" y="4046220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40050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records</a:t>
            </a:r>
            <a:endParaRPr lang="en-US" sz="810" dirty="0"/>
          </a:p>
        </p:txBody>
      </p:sp>
      <p:sp>
        <p:nvSpPr>
          <p:cNvPr id="22" name="Shape 19"/>
          <p:cNvSpPr/>
          <p:nvPr/>
        </p:nvSpPr>
        <p:spPr>
          <a:xfrm>
            <a:off x="950976" y="439369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35254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tickets</a:t>
            </a:r>
            <a:endParaRPr lang="en-US" sz="810" dirty="0"/>
          </a:p>
        </p:txBody>
      </p:sp>
      <p:sp>
        <p:nvSpPr>
          <p:cNvPr id="24" name="Shape 21"/>
          <p:cNvSpPr/>
          <p:nvPr/>
        </p:nvSpPr>
        <p:spPr>
          <a:xfrm>
            <a:off x="3447288" y="1828800"/>
            <a:ext cx="2423160" cy="3611880"/>
          </a:xfrm>
          <a:prstGeom prst="roundRect">
            <a:avLst>
              <a:gd name="adj" fmla="val 2264"/>
            </a:avLst>
          </a:prstGeom>
          <a:solidFill>
            <a:srgbClr val="101B20"/>
          </a:solidFill>
          <a:ln w="10160">
            <a:solidFill>
              <a:srgbClr val="FFAA2D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703320" y="20665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AA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Dashboard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3739896" y="265633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04488" y="261518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Awaiting decisions</a:t>
            </a:r>
            <a:endParaRPr lang="en-US" sz="810" dirty="0"/>
          </a:p>
        </p:txBody>
      </p:sp>
      <p:sp>
        <p:nvSpPr>
          <p:cNvPr id="28" name="Shape 25"/>
          <p:cNvSpPr/>
          <p:nvPr/>
        </p:nvSpPr>
        <p:spPr>
          <a:xfrm>
            <a:off x="3739896" y="3003804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04488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cycles</a:t>
            </a:r>
            <a:endParaRPr lang="en-US" sz="810" dirty="0"/>
          </a:p>
        </p:txBody>
      </p:sp>
      <p:sp>
        <p:nvSpPr>
          <p:cNvPr id="30" name="Shape 27"/>
          <p:cNvSpPr/>
          <p:nvPr/>
        </p:nvSpPr>
        <p:spPr>
          <a:xfrm>
            <a:off x="3739896" y="335127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04488" y="33101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Salary decisions</a:t>
            </a:r>
            <a:endParaRPr lang="en-US" sz="810" dirty="0"/>
          </a:p>
        </p:txBody>
      </p:sp>
      <p:sp>
        <p:nvSpPr>
          <p:cNvPr id="32" name="Shape 29"/>
          <p:cNvSpPr/>
          <p:nvPr/>
        </p:nvSpPr>
        <p:spPr>
          <a:xfrm>
            <a:off x="3739896" y="3698748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04488" y="365760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Arrear approvals</a:t>
            </a:r>
            <a:endParaRPr lang="en-US" sz="810" dirty="0"/>
          </a:p>
        </p:txBody>
      </p:sp>
      <p:sp>
        <p:nvSpPr>
          <p:cNvPr id="34" name="Shape 31"/>
          <p:cNvSpPr/>
          <p:nvPr/>
        </p:nvSpPr>
        <p:spPr>
          <a:xfrm>
            <a:off x="3739896" y="4046220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04488" y="40050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performers</a:t>
            </a:r>
            <a:endParaRPr lang="en-US" sz="810" dirty="0"/>
          </a:p>
        </p:txBody>
      </p:sp>
      <p:sp>
        <p:nvSpPr>
          <p:cNvPr id="36" name="Shape 33"/>
          <p:cNvSpPr/>
          <p:nvPr/>
        </p:nvSpPr>
        <p:spPr>
          <a:xfrm>
            <a:off x="3739896" y="439369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04488" y="435254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charts</a:t>
            </a:r>
            <a:endParaRPr lang="en-US" sz="810" dirty="0"/>
          </a:p>
        </p:txBody>
      </p:sp>
      <p:sp>
        <p:nvSpPr>
          <p:cNvPr id="38" name="Shape 35"/>
          <p:cNvSpPr/>
          <p:nvPr/>
        </p:nvSpPr>
        <p:spPr>
          <a:xfrm>
            <a:off x="6236208" y="1828800"/>
            <a:ext cx="2423160" cy="3611880"/>
          </a:xfrm>
          <a:prstGeom prst="roundRect">
            <a:avLst>
              <a:gd name="adj" fmla="val 2264"/>
            </a:avLst>
          </a:prstGeom>
          <a:solidFill>
            <a:srgbClr val="101B20"/>
          </a:solidFill>
          <a:ln w="10160">
            <a:solidFill>
              <a:srgbClr val="3B82F6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6492240" y="20665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Dashboard</a:t>
            </a:r>
            <a:endParaRPr lang="en-US" sz="1020" dirty="0"/>
          </a:p>
        </p:txBody>
      </p:sp>
      <p:sp>
        <p:nvSpPr>
          <p:cNvPr id="40" name="Shape 37"/>
          <p:cNvSpPr/>
          <p:nvPr/>
        </p:nvSpPr>
        <p:spPr>
          <a:xfrm>
            <a:off x="6528816" y="265633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93408" y="261518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progress</a:t>
            </a:r>
            <a:endParaRPr lang="en-US" sz="810" dirty="0"/>
          </a:p>
        </p:txBody>
      </p:sp>
      <p:sp>
        <p:nvSpPr>
          <p:cNvPr id="42" name="Shape 39"/>
          <p:cNvSpPr/>
          <p:nvPr/>
        </p:nvSpPr>
        <p:spPr>
          <a:xfrm>
            <a:off x="6528816" y="3003804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93408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Self-assessment</a:t>
            </a:r>
            <a:endParaRPr lang="en-US" sz="810" dirty="0"/>
          </a:p>
        </p:txBody>
      </p:sp>
      <p:sp>
        <p:nvSpPr>
          <p:cNvPr id="44" name="Shape 41"/>
          <p:cNvSpPr/>
          <p:nvPr/>
        </p:nvSpPr>
        <p:spPr>
          <a:xfrm>
            <a:off x="6528816" y="335127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93408" y="33101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KPI records</a:t>
            </a:r>
            <a:endParaRPr lang="en-US" sz="810" dirty="0"/>
          </a:p>
        </p:txBody>
      </p:sp>
      <p:sp>
        <p:nvSpPr>
          <p:cNvPr id="46" name="Shape 43"/>
          <p:cNvSpPr/>
          <p:nvPr/>
        </p:nvSpPr>
        <p:spPr>
          <a:xfrm>
            <a:off x="6528816" y="3698748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93408" y="365760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Salary history</a:t>
            </a:r>
            <a:endParaRPr lang="en-US" sz="810" dirty="0"/>
          </a:p>
        </p:txBody>
      </p:sp>
      <p:sp>
        <p:nvSpPr>
          <p:cNvPr id="48" name="Shape 45"/>
          <p:cNvSpPr/>
          <p:nvPr/>
        </p:nvSpPr>
        <p:spPr>
          <a:xfrm>
            <a:off x="6528816" y="4046220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93408" y="40050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810" dirty="0"/>
          </a:p>
        </p:txBody>
      </p:sp>
      <p:sp>
        <p:nvSpPr>
          <p:cNvPr id="50" name="Shape 47"/>
          <p:cNvSpPr/>
          <p:nvPr/>
        </p:nvSpPr>
        <p:spPr>
          <a:xfrm>
            <a:off x="6528816" y="439369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93408" y="435254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tickets</a:t>
            </a:r>
            <a:endParaRPr lang="en-US" sz="810" dirty="0"/>
          </a:p>
        </p:txBody>
      </p:sp>
      <p:sp>
        <p:nvSpPr>
          <p:cNvPr id="52" name="Shape 49"/>
          <p:cNvSpPr/>
          <p:nvPr/>
        </p:nvSpPr>
        <p:spPr>
          <a:xfrm>
            <a:off x="9025128" y="1828800"/>
            <a:ext cx="2423160" cy="3611880"/>
          </a:xfrm>
          <a:prstGeom prst="roundRect">
            <a:avLst>
              <a:gd name="adj" fmla="val 2264"/>
            </a:avLst>
          </a:prstGeom>
          <a:solidFill>
            <a:srgbClr val="101B20"/>
          </a:solidFill>
          <a:ln w="10160">
            <a:solidFill>
              <a:srgbClr val="22C55E">
                <a:alpha val="9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9281160" y="20665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Dashboard</a:t>
            </a:r>
            <a:endParaRPr lang="en-US" sz="1020" dirty="0"/>
          </a:p>
        </p:txBody>
      </p:sp>
      <p:sp>
        <p:nvSpPr>
          <p:cNvPr id="54" name="Shape 51"/>
          <p:cNvSpPr/>
          <p:nvPr/>
        </p:nvSpPr>
        <p:spPr>
          <a:xfrm>
            <a:off x="9317736" y="265633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482328" y="261518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cycles</a:t>
            </a:r>
            <a:endParaRPr lang="en-US" sz="810" dirty="0"/>
          </a:p>
        </p:txBody>
      </p:sp>
      <p:sp>
        <p:nvSpPr>
          <p:cNvPr id="56" name="Shape 53"/>
          <p:cNvSpPr/>
          <p:nvPr/>
        </p:nvSpPr>
        <p:spPr>
          <a:xfrm>
            <a:off x="9317736" y="3003804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482328" y="296265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status</a:t>
            </a:r>
            <a:endParaRPr lang="en-US" sz="810" dirty="0"/>
          </a:p>
        </p:txBody>
      </p:sp>
      <p:sp>
        <p:nvSpPr>
          <p:cNvPr id="58" name="Shape 55"/>
          <p:cNvSpPr/>
          <p:nvPr/>
        </p:nvSpPr>
        <p:spPr>
          <a:xfrm>
            <a:off x="9317736" y="335127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482328" y="331012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submissions</a:t>
            </a:r>
            <a:endParaRPr lang="en-US" sz="810" dirty="0"/>
          </a:p>
        </p:txBody>
      </p:sp>
      <p:sp>
        <p:nvSpPr>
          <p:cNvPr id="60" name="Shape 57"/>
          <p:cNvSpPr/>
          <p:nvPr/>
        </p:nvSpPr>
        <p:spPr>
          <a:xfrm>
            <a:off x="9317736" y="3698748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482328" y="365760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entry for HR</a:t>
            </a:r>
            <a:endParaRPr lang="en-US" sz="810" dirty="0"/>
          </a:p>
        </p:txBody>
      </p:sp>
      <p:sp>
        <p:nvSpPr>
          <p:cNvPr id="62" name="Shape 59"/>
          <p:cNvSpPr/>
          <p:nvPr/>
        </p:nvSpPr>
        <p:spPr>
          <a:xfrm>
            <a:off x="9317736" y="4046220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482328" y="40050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KPI for TL</a:t>
            </a:r>
            <a:endParaRPr lang="en-US" sz="810" dirty="0"/>
          </a:p>
        </p:txBody>
      </p:sp>
      <p:sp>
        <p:nvSpPr>
          <p:cNvPr id="64" name="Shape 61"/>
          <p:cNvSpPr/>
          <p:nvPr/>
        </p:nvSpPr>
        <p:spPr>
          <a:xfrm>
            <a:off x="9317736" y="439369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482328" y="435254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date votes</a:t>
            </a:r>
            <a:endParaRPr lang="en-US" sz="8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54864"/>
            <a:ext cx="1298448" cy="1298448"/>
          </a:xfrm>
          <a:prstGeom prst="arc">
            <a:avLst/>
          </a:prstGeom>
          <a:solidFill>
            <a:srgbClr val="081014">
              <a:alpha val="0"/>
            </a:srgbClr>
          </a:solidFill>
          <a:ln w="13335">
            <a:solidFill>
              <a:srgbClr val="00CEC4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97296"/>
            <a:ext cx="960120" cy="96012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4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1021263" y="3840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30352" y="530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30352" y="822960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Notifications &amp; Triggers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30352" y="13075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keeps users moving without manual chasing.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49808" y="1865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triggers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749808" y="2267712"/>
            <a:ext cx="2962656" cy="731520"/>
          </a:xfrm>
          <a:prstGeom prst="roundRect">
            <a:avLst>
              <a:gd name="adj" fmla="val 7500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2267712"/>
            <a:ext cx="50292" cy="731520"/>
          </a:xfrm>
          <a:prstGeom prst="rect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47802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Anniversary month alert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1005840" y="2889504"/>
            <a:ext cx="245059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detects appraisal month and notifies Admin to create a cycle.</a:t>
            </a:r>
            <a:endParaRPr lang="en-US" sz="735" dirty="0"/>
          </a:p>
        </p:txBody>
      </p:sp>
      <p:sp>
        <p:nvSpPr>
          <p:cNvPr id="15" name="Shape 12"/>
          <p:cNvSpPr/>
          <p:nvPr/>
        </p:nvSpPr>
        <p:spPr>
          <a:xfrm>
            <a:off x="4114800" y="2267712"/>
            <a:ext cx="2962656" cy="731520"/>
          </a:xfrm>
          <a:prstGeom prst="roundRect">
            <a:avLst>
              <a:gd name="adj" fmla="val 7500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14800" y="2267712"/>
            <a:ext cx="50292" cy="731520"/>
          </a:xfrm>
          <a:prstGeom prst="rect">
            <a:avLst/>
          </a:prstGeom>
          <a:solidFill>
            <a:srgbClr val="FFAA2D"/>
          </a:solidFill>
          <a:ln w="12700">
            <a:solidFill>
              <a:srgbClr val="FFAA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70832" y="247802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window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4370832" y="2889504"/>
            <a:ext cx="245059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Reviewers are notified to confirm availability within the defined deadline.</a:t>
            </a:r>
            <a:endParaRPr lang="en-US" sz="735" dirty="0"/>
          </a:p>
        </p:txBody>
      </p:sp>
      <p:sp>
        <p:nvSpPr>
          <p:cNvPr id="19" name="Shape 16"/>
          <p:cNvSpPr/>
          <p:nvPr/>
        </p:nvSpPr>
        <p:spPr>
          <a:xfrm>
            <a:off x="749808" y="3227832"/>
            <a:ext cx="2962656" cy="731520"/>
          </a:xfrm>
          <a:prstGeom prst="roundRect">
            <a:avLst>
              <a:gd name="adj" fmla="val 7500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49808" y="3227832"/>
            <a:ext cx="50292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343814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Self-assessment unlock</a:t>
            </a:r>
            <a:endParaRPr lang="en-US" sz="1010" dirty="0"/>
          </a:p>
        </p:txBody>
      </p:sp>
      <p:sp>
        <p:nvSpPr>
          <p:cNvPr id="22" name="Text 19"/>
          <p:cNvSpPr/>
          <p:nvPr/>
        </p:nvSpPr>
        <p:spPr>
          <a:xfrm>
            <a:off x="1005840" y="3849624"/>
            <a:ext cx="245059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is notified as soon as all reviewers confirm availability.</a:t>
            </a:r>
            <a:endParaRPr lang="en-US" sz="735" dirty="0"/>
          </a:p>
        </p:txBody>
      </p:sp>
      <p:sp>
        <p:nvSpPr>
          <p:cNvPr id="23" name="Shape 20"/>
          <p:cNvSpPr/>
          <p:nvPr/>
        </p:nvSpPr>
        <p:spPr>
          <a:xfrm>
            <a:off x="4114800" y="3227832"/>
            <a:ext cx="2962656" cy="731520"/>
          </a:xfrm>
          <a:prstGeom prst="roundRect">
            <a:avLst>
              <a:gd name="adj" fmla="val 7500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114800" y="3227832"/>
            <a:ext cx="50292" cy="731520"/>
          </a:xfrm>
          <a:prstGeom prst="rect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0832" y="343814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 reminders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4370832" y="3849624"/>
            <a:ext cx="245059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reminders are sent before self-assessment and rating deadlines.</a:t>
            </a:r>
            <a:endParaRPr lang="en-US" sz="735" dirty="0"/>
          </a:p>
        </p:txBody>
      </p:sp>
      <p:sp>
        <p:nvSpPr>
          <p:cNvPr id="27" name="Shape 24"/>
          <p:cNvSpPr/>
          <p:nvPr/>
        </p:nvSpPr>
        <p:spPr>
          <a:xfrm>
            <a:off x="749808" y="4187952"/>
            <a:ext cx="2962656" cy="731520"/>
          </a:xfrm>
          <a:prstGeom prst="roundRect">
            <a:avLst>
              <a:gd name="adj" fmla="val 7500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49808" y="4187952"/>
            <a:ext cx="50292" cy="731520"/>
          </a:xfrm>
          <a:prstGeom prst="rect">
            <a:avLst/>
          </a:prstGeom>
          <a:solidFill>
            <a:srgbClr val="FFAA2D"/>
          </a:solidFill>
          <a:ln w="12700">
            <a:solidFill>
              <a:srgbClr val="FFAA2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5840" y="439826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window close</a:t>
            </a:r>
            <a:endParaRPr lang="en-US" sz="1010" dirty="0"/>
          </a:p>
        </p:txBody>
      </p:sp>
      <p:sp>
        <p:nvSpPr>
          <p:cNvPr id="30" name="Text 27"/>
          <p:cNvSpPr/>
          <p:nvPr/>
        </p:nvSpPr>
        <p:spPr>
          <a:xfrm>
            <a:off x="1005840" y="4809744"/>
            <a:ext cx="245059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is notified when ratings are complete or the window closes.</a:t>
            </a:r>
            <a:endParaRPr lang="en-US" sz="735" dirty="0"/>
          </a:p>
        </p:txBody>
      </p:sp>
      <p:sp>
        <p:nvSpPr>
          <p:cNvPr id="31" name="Shape 28"/>
          <p:cNvSpPr/>
          <p:nvPr/>
        </p:nvSpPr>
        <p:spPr>
          <a:xfrm>
            <a:off x="4114800" y="4187952"/>
            <a:ext cx="2962656" cy="731520"/>
          </a:xfrm>
          <a:prstGeom prst="roundRect">
            <a:avLst>
              <a:gd name="adj" fmla="val 7500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114800" y="4187952"/>
            <a:ext cx="50292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370832" y="439826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Arrear auto-calculation</a:t>
            </a:r>
            <a:endParaRPr lang="en-US" sz="1010" dirty="0"/>
          </a:p>
        </p:txBody>
      </p:sp>
      <p:sp>
        <p:nvSpPr>
          <p:cNvPr id="34" name="Text 31"/>
          <p:cNvSpPr/>
          <p:nvPr/>
        </p:nvSpPr>
        <p:spPr>
          <a:xfrm>
            <a:off x="4370832" y="4809744"/>
            <a:ext cx="245059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meetings create daily-rate arrears for review and payout approval.</a:t>
            </a:r>
            <a:endParaRPr lang="en-US" sz="735" dirty="0"/>
          </a:p>
        </p:txBody>
      </p:sp>
      <p:sp>
        <p:nvSpPr>
          <p:cNvPr id="35" name="Shape 32"/>
          <p:cNvSpPr/>
          <p:nvPr/>
        </p:nvSpPr>
        <p:spPr>
          <a:xfrm>
            <a:off x="7845552" y="1828800"/>
            <a:ext cx="3273552" cy="3310128"/>
          </a:xfrm>
          <a:prstGeom prst="roundRect">
            <a:avLst>
              <a:gd name="adj" fmla="val 1676"/>
            </a:avLst>
          </a:prstGeom>
          <a:solidFill>
            <a:srgbClr val="15252B"/>
          </a:solidFill>
          <a:ln w="10160">
            <a:solidFill>
              <a:srgbClr val="23434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38160" y="2084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AA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types</a:t>
            </a:r>
            <a:endParaRPr lang="en-US" sz="1120" dirty="0"/>
          </a:p>
        </p:txBody>
      </p:sp>
      <p:sp>
        <p:nvSpPr>
          <p:cNvPr id="37" name="Shape 34"/>
          <p:cNvSpPr/>
          <p:nvPr/>
        </p:nvSpPr>
        <p:spPr>
          <a:xfrm>
            <a:off x="8183880" y="2638044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348472" y="25968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started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8183880" y="2967228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48472" y="29260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Self-assessment unlocked</a:t>
            </a:r>
            <a:endParaRPr lang="en-US" sz="840" dirty="0"/>
          </a:p>
        </p:txBody>
      </p:sp>
      <p:sp>
        <p:nvSpPr>
          <p:cNvPr id="41" name="Shape 38"/>
          <p:cNvSpPr/>
          <p:nvPr/>
        </p:nvSpPr>
        <p:spPr>
          <a:xfrm>
            <a:off x="8183880" y="329641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48472" y="32552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 approaching</a:t>
            </a:r>
            <a:endParaRPr lang="en-US" sz="840" dirty="0"/>
          </a:p>
        </p:txBody>
      </p:sp>
      <p:sp>
        <p:nvSpPr>
          <p:cNvPr id="43" name="Shape 40"/>
          <p:cNvSpPr/>
          <p:nvPr/>
        </p:nvSpPr>
        <p:spPr>
          <a:xfrm>
            <a:off x="8183880" y="362559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348472" y="35844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finalized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8183880" y="3954780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348472" y="39136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scheduled</a:t>
            </a:r>
            <a:endParaRPr lang="en-US" sz="840" dirty="0"/>
          </a:p>
        </p:txBody>
      </p:sp>
      <p:sp>
        <p:nvSpPr>
          <p:cNvPr id="47" name="Shape 44"/>
          <p:cNvSpPr/>
          <p:nvPr/>
        </p:nvSpPr>
        <p:spPr>
          <a:xfrm>
            <a:off x="8183880" y="4283964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348472" y="42428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 action needed</a:t>
            </a:r>
            <a:endParaRPr lang="en-US" sz="840" dirty="0"/>
          </a:p>
        </p:txBody>
      </p:sp>
      <p:sp>
        <p:nvSpPr>
          <p:cNvPr id="49" name="Shape 46"/>
          <p:cNvSpPr/>
          <p:nvPr/>
        </p:nvSpPr>
        <p:spPr>
          <a:xfrm>
            <a:off x="8183880" y="4613148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348472" y="45720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Passkey reset approved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8156448" y="48828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notifications appear as persistent banners until the user acknowledges them.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54864"/>
            <a:ext cx="1298448" cy="1298448"/>
          </a:xfrm>
          <a:prstGeom prst="arc">
            <a:avLst/>
          </a:prstGeom>
          <a:solidFill>
            <a:srgbClr val="081014">
              <a:alpha val="0"/>
            </a:srgbClr>
          </a:solidFill>
          <a:ln w="13335">
            <a:solidFill>
              <a:srgbClr val="00CEC4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97296"/>
            <a:ext cx="960120" cy="96012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4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1021263" y="3840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30352" y="530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30352" y="822960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Reports &amp; Tracking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30352" y="13075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and records combined for auditability and management oversight.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controls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45936" y="18105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AA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and records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8096" y="2212848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40280" y="22128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Challenge-based passkey login, reset approval, password and Google OAuth options, bcrypt hashing.</a:t>
            </a:r>
            <a:endParaRPr lang="en-US" sz="735" dirty="0"/>
          </a:p>
        </p:txBody>
      </p:sp>
      <p:sp>
        <p:nvSpPr>
          <p:cNvPr id="14" name="Text 11"/>
          <p:cNvSpPr/>
          <p:nvPr/>
        </p:nvSpPr>
        <p:spPr>
          <a:xfrm>
            <a:off x="768096" y="2779776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240280" y="277977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page enforces permissions; salary and employee data are visible only where required.</a:t>
            </a:r>
            <a:endParaRPr lang="en-US" sz="735" dirty="0"/>
          </a:p>
        </p:txBody>
      </p:sp>
      <p:sp>
        <p:nvSpPr>
          <p:cNvPr id="16" name="Text 13"/>
          <p:cNvSpPr/>
          <p:nvPr/>
        </p:nvSpPr>
        <p:spPr>
          <a:xfrm>
            <a:off x="768096" y="3346704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240280" y="33467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Actions, ratings, revisions, decisions, approvals, state changes, and timestamps are permanently logged.</a:t>
            </a:r>
            <a:endParaRPr lang="en-US" sz="735" dirty="0"/>
          </a:p>
        </p:txBody>
      </p:sp>
      <p:sp>
        <p:nvSpPr>
          <p:cNvPr id="18" name="Text 15"/>
          <p:cNvSpPr/>
          <p:nvPr/>
        </p:nvSpPr>
        <p:spPr>
          <a:xfrm>
            <a:off x="768096" y="3913632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management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240280" y="39136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 controls, active session monitoring, IP/device tracking, and admin forced logout.</a:t>
            </a:r>
            <a:endParaRPr lang="en-US" sz="735" dirty="0"/>
          </a:p>
        </p:txBody>
      </p:sp>
      <p:sp>
        <p:nvSpPr>
          <p:cNvPr id="20" name="Text 17"/>
          <p:cNvSpPr/>
          <p:nvPr/>
        </p:nvSpPr>
        <p:spPr>
          <a:xfrm>
            <a:off x="768096" y="448056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controls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240280" y="44805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cannot view others' data; partner access is read-only; sensitive records stay restricted.</a:t>
            </a:r>
            <a:endParaRPr lang="en-US" sz="735" dirty="0"/>
          </a:p>
        </p:txBody>
      </p:sp>
      <p:sp>
        <p:nvSpPr>
          <p:cNvPr id="22" name="Text 19"/>
          <p:cNvSpPr/>
          <p:nvPr/>
        </p:nvSpPr>
        <p:spPr>
          <a:xfrm>
            <a:off x="768096" y="5047488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logs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240280" y="50474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login attempts and reset requests are available for admin review.</a:t>
            </a:r>
            <a:endParaRPr lang="en-US" sz="735" dirty="0"/>
          </a:p>
        </p:txBody>
      </p:sp>
      <p:sp>
        <p:nvSpPr>
          <p:cNvPr id="24" name="Text 21"/>
          <p:cNvSpPr/>
          <p:nvPr/>
        </p:nvSpPr>
        <p:spPr>
          <a:xfrm>
            <a:off x="6364224" y="2212848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Appraisal history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818120" y="22128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Ratings, decisions, reviewers, meeting dates, MOM, and cycle records per employee.</a:t>
            </a:r>
            <a:endParaRPr lang="en-US" sz="735" dirty="0"/>
          </a:p>
        </p:txBody>
      </p:sp>
      <p:sp>
        <p:nvSpPr>
          <p:cNvPr id="26" name="Text 23"/>
          <p:cNvSpPr/>
          <p:nvPr/>
        </p:nvSpPr>
        <p:spPr>
          <a:xfrm>
            <a:off x="6364224" y="2779776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Salary sheet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818120" y="277977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Salary components, approved and pending revisions, effective dates, and payout months.</a:t>
            </a:r>
            <a:endParaRPr lang="en-US" sz="735" dirty="0"/>
          </a:p>
        </p:txBody>
      </p:sp>
      <p:sp>
        <p:nvSpPr>
          <p:cNvPr id="28" name="Text 25"/>
          <p:cNvSpPr/>
          <p:nvPr/>
        </p:nvSpPr>
        <p:spPr>
          <a:xfrm>
            <a:off x="6364224" y="3346704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performance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818120" y="33467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target achievement, completion status, and performance category records.</a:t>
            </a:r>
            <a:endParaRPr lang="en-US" sz="735" dirty="0"/>
          </a:p>
        </p:txBody>
      </p:sp>
      <p:sp>
        <p:nvSpPr>
          <p:cNvPr id="30" name="Text 27"/>
          <p:cNvSpPr/>
          <p:nvPr/>
        </p:nvSpPr>
        <p:spPr>
          <a:xfrm>
            <a:off x="6364224" y="3913632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Arrear payment log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818120" y="391363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period, daily rate, approval status, arrear amount, and payout month.</a:t>
            </a:r>
            <a:endParaRPr lang="en-US" sz="735" dirty="0"/>
          </a:p>
        </p:txBody>
      </p:sp>
      <p:sp>
        <p:nvSpPr>
          <p:cNvPr id="32" name="Text 29"/>
          <p:cNvSpPr/>
          <p:nvPr/>
        </p:nvSpPr>
        <p:spPr>
          <a:xfrm>
            <a:off x="6364224" y="448056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tickets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818120" y="44805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Categories, priorities, assignees, status, comments, and resolution notes.</a:t>
            </a:r>
            <a:endParaRPr lang="en-US" sz="735" dirty="0"/>
          </a:p>
        </p:txBody>
      </p:sp>
      <p:sp>
        <p:nvSpPr>
          <p:cNvPr id="34" name="Text 31"/>
          <p:cNvSpPr/>
          <p:nvPr/>
        </p:nvSpPr>
        <p:spPr>
          <a:xfrm>
            <a:off x="6364224" y="5047488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views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818120" y="50474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dashboards, leaderboard, charts, appraisal calendar, and salary calculator.</a:t>
            </a:r>
            <a:endParaRPr lang="en-US" sz="735" dirty="0"/>
          </a:p>
        </p:txBody>
      </p:sp>
      <p:sp>
        <p:nvSpPr>
          <p:cNvPr id="36" name="Shape 33"/>
          <p:cNvSpPr/>
          <p:nvPr/>
        </p:nvSpPr>
        <p:spPr>
          <a:xfrm>
            <a:off x="5870448" y="1993392"/>
            <a:ext cx="0" cy="3547872"/>
          </a:xfrm>
          <a:prstGeom prst="line">
            <a:avLst/>
          </a:prstGeom>
          <a:noFill/>
          <a:ln w="12700">
            <a:solidFill>
              <a:srgbClr val="23434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54864"/>
            <a:ext cx="1298448" cy="1298448"/>
          </a:xfrm>
          <a:prstGeom prst="arc">
            <a:avLst/>
          </a:prstGeom>
          <a:solidFill>
            <a:srgbClr val="081014">
              <a:alpha val="0"/>
            </a:srgbClr>
          </a:solidFill>
          <a:ln w="13335">
            <a:solidFill>
              <a:srgbClr val="00CEC4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97296"/>
            <a:ext cx="960120" cy="96012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4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1021263" y="3840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30352" y="530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30352" y="822960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Benefits &amp; Roadmap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30352" y="13075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business gains plus high-value enhancements for future phases.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4944" y="1847088"/>
            <a:ext cx="3136392" cy="804672"/>
          </a:xfrm>
          <a:prstGeom prst="roundRect">
            <a:avLst>
              <a:gd name="adj" fmla="val 6818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944" y="1847088"/>
            <a:ext cx="50292" cy="804672"/>
          </a:xfrm>
          <a:prstGeom prst="rect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05740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saved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950976" y="2468880"/>
            <a:ext cx="262432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cycles reduce email coordination and manual follow-up.</a:t>
            </a:r>
            <a:endParaRPr lang="en-US" sz="745" dirty="0"/>
          </a:p>
        </p:txBody>
      </p:sp>
      <p:sp>
        <p:nvSpPr>
          <p:cNvPr id="14" name="Shape 11"/>
          <p:cNvSpPr/>
          <p:nvPr/>
        </p:nvSpPr>
        <p:spPr>
          <a:xfrm>
            <a:off x="4334256" y="1847088"/>
            <a:ext cx="3136392" cy="804672"/>
          </a:xfrm>
          <a:prstGeom prst="roundRect">
            <a:avLst>
              <a:gd name="adj" fmla="val 6818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34256" y="1847088"/>
            <a:ext cx="50292" cy="804672"/>
          </a:xfrm>
          <a:prstGeom prst="rect">
            <a:avLst/>
          </a:prstGeom>
          <a:solidFill>
            <a:srgbClr val="FFAA2D"/>
          </a:solidFill>
          <a:ln w="12700">
            <a:solidFill>
              <a:srgbClr val="FFAA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0288" y="205740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manual work</a:t>
            </a:r>
            <a:endParaRPr lang="en-US" sz="1010" dirty="0"/>
          </a:p>
        </p:txBody>
      </p:sp>
      <p:sp>
        <p:nvSpPr>
          <p:cNvPr id="17" name="Text 14"/>
          <p:cNvSpPr/>
          <p:nvPr/>
        </p:nvSpPr>
        <p:spPr>
          <a:xfrm>
            <a:off x="4590288" y="2468880"/>
            <a:ext cx="262432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Reminders, tracking, arrears, and hike computation are automated.</a:t>
            </a:r>
            <a:endParaRPr lang="en-US" sz="745" dirty="0"/>
          </a:p>
        </p:txBody>
      </p:sp>
      <p:sp>
        <p:nvSpPr>
          <p:cNvPr id="18" name="Shape 15"/>
          <p:cNvSpPr/>
          <p:nvPr/>
        </p:nvSpPr>
        <p:spPr>
          <a:xfrm>
            <a:off x="7973568" y="1847088"/>
            <a:ext cx="3136392" cy="804672"/>
          </a:xfrm>
          <a:prstGeom prst="roundRect">
            <a:avLst>
              <a:gd name="adj" fmla="val 6818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973568" y="1847088"/>
            <a:ext cx="50292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0" y="2057400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accountability</a:t>
            </a:r>
            <a:endParaRPr lang="en-US" sz="1010" dirty="0"/>
          </a:p>
        </p:txBody>
      </p:sp>
      <p:sp>
        <p:nvSpPr>
          <p:cNvPr id="21" name="Text 18"/>
          <p:cNvSpPr/>
          <p:nvPr/>
        </p:nvSpPr>
        <p:spPr>
          <a:xfrm>
            <a:off x="8229600" y="2468880"/>
            <a:ext cx="262432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action is timestamped and tied to a responsible user.</a:t>
            </a:r>
            <a:endParaRPr lang="en-US" sz="745" dirty="0"/>
          </a:p>
        </p:txBody>
      </p:sp>
      <p:sp>
        <p:nvSpPr>
          <p:cNvPr id="22" name="Shape 19"/>
          <p:cNvSpPr/>
          <p:nvPr/>
        </p:nvSpPr>
        <p:spPr>
          <a:xfrm>
            <a:off x="694944" y="2980944"/>
            <a:ext cx="3136392" cy="804672"/>
          </a:xfrm>
          <a:prstGeom prst="roundRect">
            <a:avLst>
              <a:gd name="adj" fmla="val 6818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94944" y="2980944"/>
            <a:ext cx="50292" cy="804672"/>
          </a:xfrm>
          <a:prstGeom prst="rect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976" y="319125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records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950976" y="3602736"/>
            <a:ext cx="262432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Appraisal, salary, KPI, audit, and MOM data stay in one searchable platform.</a:t>
            </a:r>
            <a:endParaRPr lang="en-US" sz="745" dirty="0"/>
          </a:p>
        </p:txBody>
      </p:sp>
      <p:sp>
        <p:nvSpPr>
          <p:cNvPr id="26" name="Shape 23"/>
          <p:cNvSpPr/>
          <p:nvPr/>
        </p:nvSpPr>
        <p:spPr>
          <a:xfrm>
            <a:off x="4334256" y="2980944"/>
            <a:ext cx="3136392" cy="804672"/>
          </a:xfrm>
          <a:prstGeom prst="roundRect">
            <a:avLst>
              <a:gd name="adj" fmla="val 6818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334256" y="2980944"/>
            <a:ext cx="50292" cy="804672"/>
          </a:xfrm>
          <a:prstGeom prst="rect">
            <a:avLst/>
          </a:prstGeom>
          <a:solidFill>
            <a:srgbClr val="FFAA2D"/>
          </a:solidFill>
          <a:ln w="12700">
            <a:solidFill>
              <a:srgbClr val="FFA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90288" y="319125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approvals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4590288" y="3602736"/>
            <a:ext cx="262432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can decide directly from dashboard queues.</a:t>
            </a:r>
            <a:endParaRPr lang="en-US" sz="745" dirty="0"/>
          </a:p>
        </p:txBody>
      </p:sp>
      <p:sp>
        <p:nvSpPr>
          <p:cNvPr id="30" name="Shape 27"/>
          <p:cNvSpPr/>
          <p:nvPr/>
        </p:nvSpPr>
        <p:spPr>
          <a:xfrm>
            <a:off x="7973568" y="2980944"/>
            <a:ext cx="3136392" cy="804672"/>
          </a:xfrm>
          <a:prstGeom prst="roundRect">
            <a:avLst>
              <a:gd name="adj" fmla="val 6818"/>
            </a:avLst>
          </a:prstGeom>
          <a:solidFill>
            <a:srgbClr val="101B20"/>
          </a:solidFill>
          <a:ln w="10160">
            <a:solidFill>
              <a:srgbClr val="2343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973568" y="2980944"/>
            <a:ext cx="50292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0" y="3191256"/>
            <a:ext cx="2624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 decisions</a:t>
            </a:r>
            <a:endParaRPr lang="en-US" sz="1010" dirty="0"/>
          </a:p>
        </p:txBody>
      </p:sp>
      <p:sp>
        <p:nvSpPr>
          <p:cNvPr id="33" name="Text 30"/>
          <p:cNvSpPr/>
          <p:nvPr/>
        </p:nvSpPr>
        <p:spPr>
          <a:xfrm>
            <a:off x="8229600" y="3602736"/>
            <a:ext cx="2624328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5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 slabs and multi-reviewer ratings keep salary revisions consistent.</a:t>
            </a:r>
            <a:endParaRPr lang="en-US" sz="745" dirty="0"/>
          </a:p>
        </p:txBody>
      </p:sp>
      <p:sp>
        <p:nvSpPr>
          <p:cNvPr id="34" name="Shape 31"/>
          <p:cNvSpPr/>
          <p:nvPr/>
        </p:nvSpPr>
        <p:spPr>
          <a:xfrm>
            <a:off x="694944" y="4462272"/>
            <a:ext cx="10844784" cy="1042416"/>
          </a:xfrm>
          <a:prstGeom prst="roundRect">
            <a:avLst>
              <a:gd name="adj" fmla="val 5263"/>
            </a:avLst>
          </a:prstGeom>
          <a:solidFill>
            <a:srgbClr val="15252B"/>
          </a:solidFill>
          <a:ln w="10160">
            <a:solidFill>
              <a:srgbClr val="2343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2688" y="46451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enhancement suggestions</a:t>
            </a:r>
            <a:endParaRPr lang="en-US" sz="1070" dirty="0"/>
          </a:p>
        </p:txBody>
      </p:sp>
      <p:sp>
        <p:nvSpPr>
          <p:cNvPr id="36" name="Text 33"/>
          <p:cNvSpPr/>
          <p:nvPr/>
        </p:nvSpPr>
        <p:spPr>
          <a:xfrm>
            <a:off x="932688" y="502920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1536192" y="502920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analytics dashboard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3538728" y="502920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4142232" y="502920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 for iOS and Android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6144768" y="502920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AA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20" dirty="0"/>
          </a:p>
        </p:txBody>
      </p:sp>
      <p:sp>
        <p:nvSpPr>
          <p:cNvPr id="41" name="Text 38"/>
          <p:cNvSpPr/>
          <p:nvPr/>
        </p:nvSpPr>
        <p:spPr>
          <a:xfrm>
            <a:off x="6748272" y="502920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performance insights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8750808" y="502920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AA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9354312" y="502920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export center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932688" y="5285232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AA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1536192" y="528523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HRMS and payroll integration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3538728" y="5285232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720" dirty="0"/>
          </a:p>
        </p:txBody>
      </p:sp>
      <p:sp>
        <p:nvSpPr>
          <p:cNvPr id="47" name="Text 44"/>
          <p:cNvSpPr/>
          <p:nvPr/>
        </p:nvSpPr>
        <p:spPr>
          <a:xfrm>
            <a:off x="4142232" y="528523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 and SMS alerts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6144768" y="5285232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6748272" y="528523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and PIP module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8750808" y="5285232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9354312" y="528523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360-degree feedback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4"/>
          </a:solidFill>
          <a:ln w="12700">
            <a:solidFill>
              <a:srgbClr val="0810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54864"/>
            <a:ext cx="1298448" cy="1298448"/>
          </a:xfrm>
          <a:prstGeom prst="arc">
            <a:avLst/>
          </a:prstGeom>
          <a:solidFill>
            <a:srgbClr val="081014">
              <a:alpha val="0"/>
            </a:srgbClr>
          </a:solidFill>
          <a:ln w="13335">
            <a:solidFill>
              <a:srgbClr val="00CEC4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5797296"/>
            <a:ext cx="960120" cy="960120"/>
          </a:xfrm>
          <a:prstGeom prst="arc">
            <a:avLst/>
          </a:prstGeom>
          <a:solidFill>
            <a:srgbClr val="081014">
              <a:alpha val="0"/>
            </a:srgbClr>
          </a:solidFill>
          <a:ln w="12700">
            <a:solidFill>
              <a:srgbClr val="FFAA2D">
                <a:alpha val="34000"/>
              </a:srgbClr>
            </a:solidFill>
            <a:prstDash val="solid"/>
          </a:ln>
        </p:spPr>
      </p:sp>
      <p:pic>
        <p:nvPicPr>
          <p:cNvPr id="5" name="Image 0" descr="C:\Users\SilverCloud\Documents\Appraisal-Management-System\scripts\generated-assets\feature-tour-logo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11021263" y="3840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41887" y="6473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8A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530352" y="5303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0C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530352" y="822960"/>
            <a:ext cx="8732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Complete Solution for Smarter Appraisals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30352" y="130759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CB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AMS turns a manual appraisal process into a controlled, transparent, data-driven workflow.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13232" y="1847088"/>
            <a:ext cx="5559552" cy="2487168"/>
          </a:xfrm>
          <a:prstGeom prst="roundRect">
            <a:avLst>
              <a:gd name="adj" fmla="val 2206"/>
            </a:avLst>
          </a:prstGeom>
          <a:solidFill>
            <a:srgbClr val="15252B"/>
          </a:solidFill>
          <a:ln w="10160">
            <a:solidFill>
              <a:srgbClr val="2343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19913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5798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web-based and accessible from any browser.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69264" y="2528316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248716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user roles with strict access control.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69264" y="2857500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2816352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Ten-stage automated appraisal workflow.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69264" y="3186684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" y="314553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Three-layer review with management oversight.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69264" y="3515868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33856" y="3474720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salary hike calculations using increment slabs.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69264" y="3845052"/>
            <a:ext cx="73152" cy="73152"/>
          </a:xfrm>
          <a:prstGeom prst="ellipse">
            <a:avLst/>
          </a:prstGeom>
          <a:solidFill>
            <a:srgbClr val="00CEC4"/>
          </a:solidFill>
          <a:ln w="12700">
            <a:solidFill>
              <a:srgbClr val="00CE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33856" y="380390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audit trail for actions and decisions.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39712" y="187452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101B20"/>
          </a:solidFill>
          <a:ln w="10160">
            <a:solidFill>
              <a:srgbClr val="00CEC4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967728" y="2002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949440" y="2350008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roles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8284464" y="187452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101B20"/>
          </a:solidFill>
          <a:ln w="10160">
            <a:solidFill>
              <a:srgbClr val="FFAA2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412480" y="2002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94192" y="2350008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stages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729216" y="187452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101B20"/>
          </a:solidFill>
          <a:ln w="10160">
            <a:solidFill>
              <a:srgbClr val="3B82F6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857232" y="2002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838944" y="2350008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criteria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839712" y="292608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101B20"/>
          </a:solidFill>
          <a:ln w="10160">
            <a:solidFill>
              <a:srgbClr val="00CEC4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967728" y="30540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E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49440" y="3401568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layers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284464" y="292608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101B20"/>
          </a:solidFill>
          <a:ln w="10160">
            <a:solidFill>
              <a:srgbClr val="FFAA2D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412480" y="30540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AA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394192" y="3401568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Web-based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9729216" y="2926080"/>
            <a:ext cx="1115568" cy="749808"/>
          </a:xfrm>
          <a:prstGeom prst="roundRect">
            <a:avLst>
              <a:gd name="adj" fmla="val 7317"/>
            </a:avLst>
          </a:prstGeom>
          <a:solidFill>
            <a:srgbClr val="101B20"/>
          </a:solidFill>
          <a:ln w="10160">
            <a:solidFill>
              <a:srgbClr val="3B82F6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6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9857232" y="30540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Always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838944" y="3401568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archived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713232" y="4892040"/>
            <a:ext cx="10835640" cy="548640"/>
          </a:xfrm>
          <a:prstGeom prst="roundRect">
            <a:avLst>
              <a:gd name="adj" fmla="val 10000"/>
            </a:avLst>
          </a:prstGeom>
          <a:solidFill>
            <a:srgbClr val="101B20"/>
          </a:solidFill>
          <a:ln w="10160">
            <a:solidFill>
              <a:srgbClr val="00CEC4">
                <a:alpha val="9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87552" y="5084064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4F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 | For questions, implementation details, or a live demo, please contact the Technology Team.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Appraisal Management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Business Presentation</dc:title>
  <dc:subject>Condensed business presentation</dc:subject>
  <dc:creator>Codex</dc:creator>
  <cp:lastModifiedBy>Codex</cp:lastModifiedBy>
  <cp:revision>1</cp:revision>
  <dcterms:created xsi:type="dcterms:W3CDTF">2026-05-05T06:48:19Z</dcterms:created>
  <dcterms:modified xsi:type="dcterms:W3CDTF">2026-05-05T06:48:19Z</dcterms:modified>
</cp:coreProperties>
</file>